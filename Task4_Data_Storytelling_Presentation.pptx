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4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5722DE-9B65-41D3-90C5-4E904029847D}" v="1" dt="2026-03-04T15:57:16.5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makrishna Thalluri" userId="8c6da42fedd4e27f" providerId="LiveId" clId="{58A32544-8E36-425D-84A5-FD255C7F68EF}"/>
    <pc:docChg chg="modSld">
      <pc:chgData name="Ramakrishna Thalluri" userId="8c6da42fedd4e27f" providerId="LiveId" clId="{58A32544-8E36-425D-84A5-FD255C7F68EF}" dt="2026-03-04T15:58:17.888" v="27" actId="14100"/>
      <pc:docMkLst>
        <pc:docMk/>
      </pc:docMkLst>
      <pc:sldChg chg="addSp delSp modSp mod">
        <pc:chgData name="Ramakrishna Thalluri" userId="8c6da42fedd4e27f" providerId="LiveId" clId="{58A32544-8E36-425D-84A5-FD255C7F68EF}" dt="2026-03-04T15:58:17.888" v="27" actId="14100"/>
        <pc:sldMkLst>
          <pc:docMk/>
          <pc:sldMk cId="4255425112" sldId="262"/>
        </pc:sldMkLst>
        <pc:spChg chg="mod">
          <ac:chgData name="Ramakrishna Thalluri" userId="8c6da42fedd4e27f" providerId="LiveId" clId="{58A32544-8E36-425D-84A5-FD255C7F68EF}" dt="2026-03-04T15:58:17.888" v="27" actId="14100"/>
          <ac:spMkLst>
            <pc:docMk/>
            <pc:sldMk cId="4255425112" sldId="262"/>
            <ac:spMk id="2" creationId="{E559D53C-55D4-89AA-5376-9958EBAB8182}"/>
          </ac:spMkLst>
        </pc:spChg>
        <pc:spChg chg="add mod">
          <ac:chgData name="Ramakrishna Thalluri" userId="8c6da42fedd4e27f" providerId="LiveId" clId="{58A32544-8E36-425D-84A5-FD255C7F68EF}" dt="2026-03-04T15:58:08.625" v="26" actId="20577"/>
          <ac:spMkLst>
            <pc:docMk/>
            <pc:sldMk cId="4255425112" sldId="262"/>
            <ac:spMk id="3" creationId="{48A507C9-2A1C-4E53-7EAE-30391FA40355}"/>
          </ac:spMkLst>
        </pc:spChg>
        <pc:spChg chg="del mod">
          <ac:chgData name="Ramakrishna Thalluri" userId="8c6da42fedd4e27f" providerId="LiveId" clId="{58A32544-8E36-425D-84A5-FD255C7F68EF}" dt="2026-03-04T15:57:16.574" v="1"/>
          <ac:spMkLst>
            <pc:docMk/>
            <pc:sldMk cId="4255425112" sldId="262"/>
            <ac:spMk id="4" creationId="{833228F8-8D40-0F01-71D9-6EF6F0F4300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CF898-EFA1-4227-98B7-D2758DE6CF86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2D81E-B36C-4B5A-B405-412448FC33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35251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CF898-EFA1-4227-98B7-D2758DE6CF86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2D81E-B36C-4B5A-B405-412448FC33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0198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CF898-EFA1-4227-98B7-D2758DE6CF86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2D81E-B36C-4B5A-B405-412448FC33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9432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CF898-EFA1-4227-98B7-D2758DE6CF86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2D81E-B36C-4B5A-B405-412448FC33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979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CF898-EFA1-4227-98B7-D2758DE6CF86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2D81E-B36C-4B5A-B405-412448FC33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63960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CF898-EFA1-4227-98B7-D2758DE6CF86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2D81E-B36C-4B5A-B405-412448FC33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32072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CF898-EFA1-4227-98B7-D2758DE6CF86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2D81E-B36C-4B5A-B405-412448FC33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27925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CF898-EFA1-4227-98B7-D2758DE6CF86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2D81E-B36C-4B5A-B405-412448FC33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54932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CF898-EFA1-4227-98B7-D2758DE6CF86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2D81E-B36C-4B5A-B405-412448FC33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87429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CF898-EFA1-4227-98B7-D2758DE6CF86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2D81E-B36C-4B5A-B405-412448FC33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9772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CF898-EFA1-4227-98B7-D2758DE6CF86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2D81E-B36C-4B5A-B405-412448FC336E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094174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CF898-EFA1-4227-98B7-D2758DE6CF86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2D81E-B36C-4B5A-B405-412448FC33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42653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CF898-EFA1-4227-98B7-D2758DE6CF86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2D81E-B36C-4B5A-B405-412448FC336E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781707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CF898-EFA1-4227-98B7-D2758DE6CF86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2D81E-B36C-4B5A-B405-412448FC33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20709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CF898-EFA1-4227-98B7-D2758DE6CF86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2D81E-B36C-4B5A-B405-412448FC33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02801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CF898-EFA1-4227-98B7-D2758DE6CF86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2D81E-B36C-4B5A-B405-412448FC33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34744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FCF898-EFA1-4227-98B7-D2758DE6CF86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092D81E-B36C-4B5A-B405-412448FC33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2861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051AE-2CF7-9457-FD63-5C52A7D3AD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363793" y="304800"/>
            <a:ext cx="12791767" cy="4444181"/>
          </a:xfrm>
        </p:spPr>
        <p:txBody>
          <a:bodyPr>
            <a:normAutofit/>
          </a:bodyPr>
          <a:lstStyle/>
          <a:p>
            <a:br>
              <a:rPr lang="en-US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9C05E6-A25D-CFBC-CEDD-65F68C5DFA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17290" y="8259095"/>
            <a:ext cx="4788310" cy="78659"/>
          </a:xfrm>
        </p:spPr>
        <p:txBody>
          <a:bodyPr>
            <a:normAutofit fontScale="25000" lnSpcReduction="20000"/>
          </a:bodyPr>
          <a:lstStyle/>
          <a:p>
            <a:endParaRPr lang="en-IN" dirty="0"/>
          </a:p>
        </p:txBody>
      </p:sp>
      <p:sp>
        <p:nvSpPr>
          <p:cNvPr id="6" name="Right Triangle 5">
            <a:extLst>
              <a:ext uri="{FF2B5EF4-FFF2-40B4-BE49-F238E27FC236}">
                <a16:creationId xmlns:a16="http://schemas.microsoft.com/office/drawing/2014/main" id="{C2DD302B-6C0C-B41C-86E3-C4060F6195DA}"/>
              </a:ext>
            </a:extLst>
          </p:cNvPr>
          <p:cNvSpPr/>
          <p:nvPr/>
        </p:nvSpPr>
        <p:spPr>
          <a:xfrm>
            <a:off x="-49160" y="4933647"/>
            <a:ext cx="3047999" cy="1946787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Right Triangle 6">
            <a:extLst>
              <a:ext uri="{FF2B5EF4-FFF2-40B4-BE49-F238E27FC236}">
                <a16:creationId xmlns:a16="http://schemas.microsoft.com/office/drawing/2014/main" id="{2662474C-8087-097E-9286-4414D08EDF66}"/>
              </a:ext>
            </a:extLst>
          </p:cNvPr>
          <p:cNvSpPr/>
          <p:nvPr/>
        </p:nvSpPr>
        <p:spPr>
          <a:xfrm rot="16200000">
            <a:off x="9417157" y="4048743"/>
            <a:ext cx="3012964" cy="2536722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1AC18A-F405-E698-0AAB-EB8C44DA0C60}"/>
              </a:ext>
            </a:extLst>
          </p:cNvPr>
          <p:cNvSpPr txBox="1"/>
          <p:nvPr/>
        </p:nvSpPr>
        <p:spPr>
          <a:xfrm>
            <a:off x="1730477" y="4621161"/>
            <a:ext cx="44248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 Analyst Internship – Task 4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651CA8-6821-AEBE-3E81-0F2C9857404B}"/>
              </a:ext>
            </a:extLst>
          </p:cNvPr>
          <p:cNvSpPr txBox="1"/>
          <p:nvPr/>
        </p:nvSpPr>
        <p:spPr>
          <a:xfrm>
            <a:off x="1730478" y="5073446"/>
            <a:ext cx="50439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Prepared by: Thalluri Ramakrishna</a:t>
            </a:r>
            <a:br>
              <a:rPr lang="en-US" dirty="0"/>
            </a:br>
            <a:r>
              <a:rPr lang="en-US" dirty="0"/>
              <a:t>Tools Used: Python, Google </a:t>
            </a:r>
            <a:r>
              <a:rPr lang="en-US" dirty="0" err="1"/>
              <a:t>Colab</a:t>
            </a:r>
            <a:r>
              <a:rPr lang="en-US" dirty="0"/>
              <a:t>, Power BI, Excel</a:t>
            </a:r>
            <a:endParaRPr lang="en-IN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566C1FA-D042-02F7-C5D7-E424CB197BDC}"/>
              </a:ext>
            </a:extLst>
          </p:cNvPr>
          <p:cNvSpPr/>
          <p:nvPr/>
        </p:nvSpPr>
        <p:spPr>
          <a:xfrm>
            <a:off x="1474840" y="292373"/>
            <a:ext cx="7393858" cy="13786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800" dirty="0">
                <a:latin typeface="Algerian" panose="04020705040A02060702" pitchFamily="82" charset="0"/>
              </a:rPr>
              <a:t>Sales Data Analysis</a:t>
            </a:r>
          </a:p>
          <a:p>
            <a:pPr algn="ctr"/>
            <a:endParaRPr lang="en-IN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B020EFB-6E59-99D5-2875-593B74AC4AA7}"/>
              </a:ext>
            </a:extLst>
          </p:cNvPr>
          <p:cNvSpPr/>
          <p:nvPr/>
        </p:nvSpPr>
        <p:spPr>
          <a:xfrm>
            <a:off x="2084440" y="2360364"/>
            <a:ext cx="5732206" cy="137866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4618719-627B-6ADE-1136-233C1045712E}"/>
              </a:ext>
            </a:extLst>
          </p:cNvPr>
          <p:cNvSpPr txBox="1"/>
          <p:nvPr/>
        </p:nvSpPr>
        <p:spPr>
          <a:xfrm>
            <a:off x="2831691" y="2862712"/>
            <a:ext cx="75610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Data Storytelling &amp; Statistical Validation</a:t>
            </a:r>
          </a:p>
        </p:txBody>
      </p:sp>
    </p:spTree>
    <p:extLst>
      <p:ext uri="{BB962C8B-B14F-4D97-AF65-F5344CB8AC3E}">
        <p14:creationId xmlns:p14="http://schemas.microsoft.com/office/powerpoint/2010/main" val="10664247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75877-6B23-58E1-74B8-3728BE1B0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800" dirty="0">
                <a:latin typeface="Sitka Display Semibold" pitchFamily="2" charset="0"/>
              </a:rPr>
              <a:t>Objective of the Project</a:t>
            </a:r>
            <a:endParaRPr lang="en-IN" sz="4800" b="1" dirty="0">
              <a:solidFill>
                <a:srgbClr val="002060"/>
              </a:solidFill>
              <a:latin typeface="Sitka Display Semibold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591505-7181-EA5B-4055-4500E91F05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objective of this project is to analyze a sales dataset to understand business performance, customer behavior, and product trends.</a:t>
            </a:r>
          </a:p>
          <a:p>
            <a:r>
              <a:rPr lang="en-US" dirty="0"/>
              <a:t>Through data analysis and visualization, the project aims to identify key insights that can help businesses improve decision making and increase revenue.</a:t>
            </a:r>
          </a:p>
          <a:p>
            <a:r>
              <a:rPr lang="en-US" dirty="0"/>
              <a:t>This analysis was performed using Python for data analysis and Power BI for interactive dashboard visualization.</a:t>
            </a:r>
          </a:p>
          <a:p>
            <a:endParaRPr lang="en-IN" dirty="0"/>
          </a:p>
        </p:txBody>
      </p:sp>
      <p:sp>
        <p:nvSpPr>
          <p:cNvPr id="4" name="Right Triangle 3">
            <a:extLst>
              <a:ext uri="{FF2B5EF4-FFF2-40B4-BE49-F238E27FC236}">
                <a16:creationId xmlns:a16="http://schemas.microsoft.com/office/drawing/2014/main" id="{317FF950-8C01-2029-7D29-46D52D9DE6BD}"/>
              </a:ext>
            </a:extLst>
          </p:cNvPr>
          <p:cNvSpPr/>
          <p:nvPr/>
        </p:nvSpPr>
        <p:spPr>
          <a:xfrm>
            <a:off x="0" y="5665172"/>
            <a:ext cx="2448232" cy="1179870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ight Triangle 4">
            <a:extLst>
              <a:ext uri="{FF2B5EF4-FFF2-40B4-BE49-F238E27FC236}">
                <a16:creationId xmlns:a16="http://schemas.microsoft.com/office/drawing/2014/main" id="{4810BFBF-6E0F-4B3A-4B5E-994E61D6961A}"/>
              </a:ext>
            </a:extLst>
          </p:cNvPr>
          <p:cNvSpPr/>
          <p:nvPr/>
        </p:nvSpPr>
        <p:spPr>
          <a:xfrm flipH="1">
            <a:off x="9432153" y="5665172"/>
            <a:ext cx="2759847" cy="1179870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478415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136D4-5C87-68ED-0CDA-AA861533A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6813"/>
            <a:ext cx="10515600" cy="884903"/>
          </a:xfrm>
        </p:spPr>
        <p:txBody>
          <a:bodyPr>
            <a:normAutofit/>
          </a:bodyPr>
          <a:lstStyle/>
          <a:p>
            <a:r>
              <a:rPr lang="en-IN" sz="2800" b="1" dirty="0">
                <a:latin typeface="Sitka Display Semibold" pitchFamily="2" charset="0"/>
              </a:rPr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5B1B91-FA5A-30D8-FADB-C2B5076B42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1832" y="896132"/>
            <a:ext cx="10581968" cy="5280831"/>
          </a:xfrm>
        </p:spPr>
        <p:txBody>
          <a:bodyPr>
            <a:normAutofit/>
          </a:bodyPr>
          <a:lstStyle/>
          <a:p>
            <a:r>
              <a:rPr lang="en-US" sz="2400" dirty="0"/>
              <a:t>The dataset for task1 and 2 contains sales transaction data and task3 containing amazon sales data including product information, customer details, and revenue data.</a:t>
            </a:r>
            <a:endParaRPr lang="en-IN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549401-7834-26F4-EDB8-EB3D03CC9A97}"/>
              </a:ext>
            </a:extLst>
          </p:cNvPr>
          <p:cNvSpPr txBox="1"/>
          <p:nvPr/>
        </p:nvSpPr>
        <p:spPr>
          <a:xfrm>
            <a:off x="771832" y="2153265"/>
            <a:ext cx="43101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Important Columns in the Dataset Task 1 and Task 2:</a:t>
            </a:r>
            <a:endParaRPr lang="en-IN" dirty="0">
              <a:highlight>
                <a:srgbClr val="FFFF00"/>
              </a:highlight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01FC47AC-05CC-8E64-8862-0268B69F0B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546" y="2791769"/>
            <a:ext cx="6322143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tka Display Semibold" pitchFamily="2" charset="0"/>
              </a:rPr>
              <a:t>Discount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itka Display Semibold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itka Display Semibold" pitchFamily="2" charset="0"/>
              </a:rPr>
              <a:t>Payment_Method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itka Display Semibold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itka Display Semibold" pitchFamily="2" charset="0"/>
              </a:rPr>
              <a:t>Product_ID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itka Display Semibold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itka Display Semibold" pitchFamily="2" charset="0"/>
              </a:rPr>
              <a:t>Quantity_Sold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itka Display Semibold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tka Display Semibold" pitchFamily="2" charset="0"/>
              </a:rPr>
              <a:t>Region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itka Display Semibold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tka Display Semibold" pitchFamily="2" charset="0"/>
              </a:rPr>
              <a:t>Region_and_Sales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itka Display Semibold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itka Display Semibold" pitchFamily="2" charset="0"/>
              </a:rPr>
              <a:t>Sale_Date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itka Display Semibold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tka Display Semibold" pitchFamily="2" charset="0"/>
              </a:rPr>
              <a:t>Customer_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itka Display Semibold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itka Display Semibold" pitchFamily="2" charset="0"/>
              </a:rPr>
              <a:t>Sales_Amount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itka Display Semibold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itka Display Semibold" pitchFamily="2" charset="0"/>
              </a:rPr>
              <a:t>Sales_Channel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itka Display Semibold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itka Display Semibold" pitchFamily="2" charset="0"/>
              </a:rPr>
              <a:t>Sales_Rep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itka Display Semibold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itka Display Semibold" pitchFamily="2" charset="0"/>
              </a:rPr>
              <a:t>Unit_Cost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itka Display Semibold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itka Display Semibold" pitchFamily="2" charset="0"/>
              </a:rPr>
              <a:t>Unit_Price</a:t>
            </a: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itka Display Semibold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itka Display Semibold" pitchFamily="2" charset="0"/>
              </a:rPr>
              <a:t>Product_Categ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itka Display Semibold" pitchFamily="2" charset="0"/>
              </a:rPr>
              <a:t>ory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itka Display Semibold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B80879-6E28-6181-1F2E-5D103426E183}"/>
              </a:ext>
            </a:extLst>
          </p:cNvPr>
          <p:cNvSpPr txBox="1"/>
          <p:nvPr/>
        </p:nvSpPr>
        <p:spPr>
          <a:xfrm>
            <a:off x="5987845" y="2153264"/>
            <a:ext cx="32348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highlight>
                  <a:srgbClr val="FFFF00"/>
                </a:highlight>
              </a:rPr>
              <a:t>Important columns in the Task3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3C8F1C-878F-0FD2-A7C6-8BC3A84488E9}"/>
              </a:ext>
            </a:extLst>
          </p:cNvPr>
          <p:cNvSpPr txBox="1"/>
          <p:nvPr/>
        </p:nvSpPr>
        <p:spPr>
          <a:xfrm>
            <a:off x="6420465" y="2781133"/>
            <a:ext cx="2369574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Sitka Display Semibold" pitchFamily="2" charset="0"/>
              </a:rPr>
              <a:t>Region</a:t>
            </a:r>
          </a:p>
          <a:p>
            <a:r>
              <a:rPr lang="en-US" sz="1400" dirty="0">
                <a:latin typeface="Sitka Display Semibold" pitchFamily="2" charset="0"/>
              </a:rPr>
              <a:t>Country</a:t>
            </a:r>
          </a:p>
          <a:p>
            <a:r>
              <a:rPr lang="en-US" sz="1400" dirty="0">
                <a:latin typeface="Sitka Display Semibold" pitchFamily="2" charset="0"/>
              </a:rPr>
              <a:t>Item Type</a:t>
            </a:r>
          </a:p>
          <a:p>
            <a:r>
              <a:rPr lang="en-US" sz="1400" dirty="0">
                <a:latin typeface="Sitka Display Semibold" pitchFamily="2" charset="0"/>
              </a:rPr>
              <a:t>Sales Channel</a:t>
            </a:r>
          </a:p>
          <a:p>
            <a:r>
              <a:rPr lang="en-US" sz="1400" dirty="0">
                <a:latin typeface="Sitka Display Semibold" pitchFamily="2" charset="0"/>
              </a:rPr>
              <a:t>Order Priority</a:t>
            </a:r>
          </a:p>
          <a:p>
            <a:r>
              <a:rPr lang="en-US" sz="1400" dirty="0">
                <a:latin typeface="Sitka Display Semibold" pitchFamily="2" charset="0"/>
              </a:rPr>
              <a:t>Order Date</a:t>
            </a:r>
          </a:p>
          <a:p>
            <a:r>
              <a:rPr lang="en-US" sz="1400" dirty="0">
                <a:latin typeface="Sitka Display Semibold" pitchFamily="2" charset="0"/>
              </a:rPr>
              <a:t>Ship Date</a:t>
            </a:r>
          </a:p>
          <a:p>
            <a:r>
              <a:rPr lang="en-US" sz="1400" dirty="0">
                <a:latin typeface="Sitka Display Semibold" pitchFamily="2" charset="0"/>
              </a:rPr>
              <a:t>Units Sold</a:t>
            </a:r>
          </a:p>
          <a:p>
            <a:r>
              <a:rPr lang="en-US" sz="1400" dirty="0">
                <a:latin typeface="Sitka Display Semibold" pitchFamily="2" charset="0"/>
              </a:rPr>
              <a:t>Unit Price</a:t>
            </a:r>
          </a:p>
          <a:p>
            <a:r>
              <a:rPr lang="en-US" sz="1400" dirty="0">
                <a:latin typeface="Sitka Display Semibold" pitchFamily="2" charset="0"/>
              </a:rPr>
              <a:t>Unit Cost</a:t>
            </a:r>
          </a:p>
          <a:p>
            <a:r>
              <a:rPr lang="en-US" sz="1400" dirty="0">
                <a:latin typeface="Sitka Display Semibold" pitchFamily="2" charset="0"/>
              </a:rPr>
              <a:t>Total Revenue</a:t>
            </a:r>
          </a:p>
          <a:p>
            <a:r>
              <a:rPr lang="en-US" sz="1400" dirty="0">
                <a:latin typeface="Sitka Display Semibold" pitchFamily="2" charset="0"/>
              </a:rPr>
              <a:t>Total Cost</a:t>
            </a:r>
          </a:p>
          <a:p>
            <a:r>
              <a:rPr lang="en-US" sz="1400" dirty="0">
                <a:latin typeface="Sitka Display Semibold" pitchFamily="2" charset="0"/>
              </a:rPr>
              <a:t>Total Profit</a:t>
            </a:r>
          </a:p>
          <a:p>
            <a:r>
              <a:rPr lang="en-US" sz="1400" dirty="0">
                <a:latin typeface="Sitka Display Semibold" pitchFamily="2" charset="0"/>
              </a:rPr>
              <a:t>Shipping Days (Created)</a:t>
            </a:r>
          </a:p>
        </p:txBody>
      </p:sp>
    </p:spTree>
    <p:extLst>
      <p:ext uri="{BB962C8B-B14F-4D97-AF65-F5344CB8AC3E}">
        <p14:creationId xmlns:p14="http://schemas.microsoft.com/office/powerpoint/2010/main" val="17298172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33DF8-501D-6916-10D3-F1F5142CD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Analysis Process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9C78439-79D2-ABEE-1A89-6AC9B4C4F67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7334" y="1305343"/>
            <a:ext cx="7798072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analysis process involved several steps: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Cleaning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Removed missing values and prepared the dataset for analysis.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Exploratory Data Analysis (EDA):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Python to explore patterns, relationships, and trends in the dataset.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Visualization: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Created visual charts and graphs to understand the data better.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Dashboard Creation: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Developed an interactive dashboard in Power BI to present insights clearly.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93234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395FD-B615-7C9A-45DB-F136274A8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Insights from the Analysis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7858F3-458F-3C45-66D6-39B8C7ACD9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0"/>
            <a:ext cx="9076266" cy="4927599"/>
          </a:xfrm>
        </p:spPr>
        <p:txBody>
          <a:bodyPr/>
          <a:lstStyle/>
          <a:p>
            <a:r>
              <a:rPr lang="en-US" dirty="0"/>
              <a:t>Some product categories generate significantly higher revenue compared to others.</a:t>
            </a:r>
          </a:p>
          <a:p>
            <a:r>
              <a:rPr lang="en-US" dirty="0"/>
              <a:t>Sales vary across different cities, indicating geographical differences in customer demand.</a:t>
            </a:r>
          </a:p>
          <a:p>
            <a:r>
              <a:rPr lang="en-US" dirty="0"/>
              <a:t>Monthly sales trends show certain months where sales increase significantly.</a:t>
            </a:r>
          </a:p>
          <a:p>
            <a:r>
              <a:rPr lang="en-US" dirty="0"/>
              <a:t>A small group of customers contributes to a large portion of total revenue.</a:t>
            </a:r>
          </a:p>
          <a:p>
            <a:r>
              <a:rPr lang="en-US" dirty="0"/>
              <a:t>These insights help businesses understand their strongest markets and best performing products.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44610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4FD44-492C-878D-780F-D49BE16115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265471"/>
            <a:ext cx="8596668" cy="1664929"/>
          </a:xfrm>
        </p:spPr>
        <p:txBody>
          <a:bodyPr/>
          <a:lstStyle/>
          <a:p>
            <a:r>
              <a:rPr lang="en-IN" dirty="0"/>
              <a:t>Power BI Dashboard Insights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86B76CC-21FF-35DE-644D-277BF03C5BC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62116" y="998862"/>
            <a:ext cx="7902358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Power BI Dashboard Insights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 interactive Power BI dashboard was created to visualize the sales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dashboard includes: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Sales by Product Category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Monthly Sales Trend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Total profit by Region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Total profit by product category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These visualizations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help stakeholders quickly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understand business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performance and identify key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opportunities for improvement.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0D115E9-99DD-18B6-DC20-50D3B04B99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2503" y="2359742"/>
            <a:ext cx="7649497" cy="4495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35044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9C3FC-CDF2-76E1-ABC0-45A6FD6D7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76981"/>
            <a:ext cx="8596668" cy="1753419"/>
          </a:xfrm>
        </p:spPr>
        <p:txBody>
          <a:bodyPr/>
          <a:lstStyle/>
          <a:p>
            <a:r>
              <a:rPr lang="en-IN" dirty="0"/>
              <a:t>The dashboard which I created in Task3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08051BC-70F0-9744-AED7-A2BD7AD4EA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37187"/>
            <a:ext cx="12191999" cy="552081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A5F49D1-6256-9C90-EF73-A0CE3B530AF4}"/>
              </a:ext>
            </a:extLst>
          </p:cNvPr>
          <p:cNvSpPr txBox="1"/>
          <p:nvPr/>
        </p:nvSpPr>
        <p:spPr>
          <a:xfrm>
            <a:off x="1858297" y="766916"/>
            <a:ext cx="74157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Deep dive analysis and creating interactive dashboard</a:t>
            </a:r>
          </a:p>
        </p:txBody>
      </p:sp>
    </p:spTree>
    <p:extLst>
      <p:ext uri="{BB962C8B-B14F-4D97-AF65-F5344CB8AC3E}">
        <p14:creationId xmlns:p14="http://schemas.microsoft.com/office/powerpoint/2010/main" val="28384487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9D53C-55D4-89AA-5376-9958EBAB8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373626"/>
            <a:ext cx="8596668" cy="1556774"/>
          </a:xfrm>
        </p:spPr>
        <p:txBody>
          <a:bodyPr/>
          <a:lstStyle/>
          <a:p>
            <a:r>
              <a:rPr lang="en-IN" dirty="0"/>
              <a:t>Hypothesis Testing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48A507C9-2A1C-4E53-7EAE-30391FA4035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66763" y="1035896"/>
            <a:ext cx="7558479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Business Question: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Does product category influence sales amount?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Null Hypothesis (H0):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Product category does not affect sales amount.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Alternative Hypothesis (H1):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Product category significantly affects sales amount.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Statistical Test Used: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ANOVA (Analysis of Variance)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Result: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ANOVA test produced a p-value less than 0.05.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Conclusion: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null hypothesis was rejected, indicating that product category has 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statistically significant impact on sales amount.</a:t>
            </a:r>
          </a:p>
        </p:txBody>
      </p:sp>
    </p:spTree>
    <p:extLst>
      <p:ext uri="{BB962C8B-B14F-4D97-AF65-F5344CB8AC3E}">
        <p14:creationId xmlns:p14="http://schemas.microsoft.com/office/powerpoint/2010/main" val="42554251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29B83-1201-E8D3-D79B-779729A01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Business Recommendations &amp;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9FADC4-A661-A1E4-7994-581C0692D8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573161"/>
            <a:ext cx="8820627" cy="5034116"/>
          </a:xfrm>
        </p:spPr>
        <p:txBody>
          <a:bodyPr/>
          <a:lstStyle/>
          <a:p>
            <a:r>
              <a:rPr lang="en-US" dirty="0"/>
              <a:t>Business Recommendations</a:t>
            </a:r>
          </a:p>
          <a:p>
            <a:r>
              <a:rPr lang="en-US" dirty="0"/>
              <a:t>Based on the analysis, the following recommendations can help improve business performance:</a:t>
            </a:r>
          </a:p>
          <a:p>
            <a:r>
              <a:rPr lang="en-US" dirty="0"/>
              <a:t>• Focus marketing efforts on high-performing product categories.</a:t>
            </a:r>
            <a:br>
              <a:rPr lang="en-US" dirty="0"/>
            </a:br>
            <a:r>
              <a:rPr lang="en-US" dirty="0"/>
              <a:t>• Target cities with high sales potential for expansion.</a:t>
            </a:r>
            <a:br>
              <a:rPr lang="en-US" dirty="0"/>
            </a:br>
            <a:r>
              <a:rPr lang="en-US" dirty="0"/>
              <a:t>• Offer loyalty programs for top customers to increase retention.</a:t>
            </a:r>
            <a:br>
              <a:rPr lang="en-US" dirty="0"/>
            </a:br>
            <a:r>
              <a:rPr lang="en-US" dirty="0"/>
              <a:t>• Plan promotions during months with high sales activity.</a:t>
            </a:r>
          </a:p>
          <a:p>
            <a:r>
              <a:rPr lang="en-US" dirty="0"/>
              <a:t>Conclusion</a:t>
            </a:r>
          </a:p>
          <a:p>
            <a:r>
              <a:rPr lang="en-US" dirty="0"/>
              <a:t>This project demonstrates how data analysis, visualization, and statistical validation can provide valuable insights for business decision-making.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7231518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49</TotalTime>
  <Words>607</Words>
  <Application>Microsoft Office PowerPoint</Application>
  <PresentationFormat>Widescreen</PresentationFormat>
  <Paragraphs>94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Algerian</vt:lpstr>
      <vt:lpstr>Arial</vt:lpstr>
      <vt:lpstr>Sitka Display Semibold</vt:lpstr>
      <vt:lpstr>Trebuchet MS</vt:lpstr>
      <vt:lpstr>Wingdings 3</vt:lpstr>
      <vt:lpstr>Facet</vt:lpstr>
      <vt:lpstr> </vt:lpstr>
      <vt:lpstr>Objective of the Project</vt:lpstr>
      <vt:lpstr>Dataset Overview</vt:lpstr>
      <vt:lpstr>Data Analysis Process</vt:lpstr>
      <vt:lpstr>Key Insights from the Analysis</vt:lpstr>
      <vt:lpstr>Power BI Dashboard Insights</vt:lpstr>
      <vt:lpstr>The dashboard which I created in Task3 </vt:lpstr>
      <vt:lpstr>Hypothesis Testing</vt:lpstr>
      <vt:lpstr>Business Recommendations &amp;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Ramakrishna Thalluri</dc:creator>
  <cp:lastModifiedBy>Ramakrishna Thalluri</cp:lastModifiedBy>
  <cp:revision>1</cp:revision>
  <dcterms:created xsi:type="dcterms:W3CDTF">2026-03-04T14:43:53Z</dcterms:created>
  <dcterms:modified xsi:type="dcterms:W3CDTF">2026-03-04T15:58:22Z</dcterms:modified>
</cp:coreProperties>
</file>